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61288" y="310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ciclo de vida DevOps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161288" y="8412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 la idea a producción, una y otra vez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5216" y="141732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732135" y="141732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68711" y="141732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915630" y="141732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52206" y="141732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99125" y="141732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35701" y="141732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empacar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282619" y="141732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19195" y="141732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66114" y="141732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02690" y="141732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649609" y="1417320"/>
            <a:ext cx="1037191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6185" y="1417320"/>
            <a:ext cx="9640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68880"/>
          <a:ext cx="8046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657600"/>
                <a:gridCol w="28346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haces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Herramienta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Versionas el código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/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Compilas y pruebas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npm, Maven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Empacar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Creas una imagen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Despliegas y escalas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Kubernetes, Helm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Observas la salud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Prometheus, Grafana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Escaneas vulnerabilidades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Trivy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48640" y="4736592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47914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 DevOps y Contenedores · Tec de Toluca · Compártelo con tus alumnos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61288" y="310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Imagen vs Contenedor vs VM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161288" y="8412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los 3 conceptos que más se confunden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679192" cy="310896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25880"/>
            <a:ext cx="82296" cy="310896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472184"/>
            <a:ext cx="2295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1911096"/>
            <a:ext cx="22219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 inmutable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"receta"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versiona con tags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imagen → N contenedores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36976" y="1325880"/>
            <a:ext cx="2679192" cy="310896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36976" y="1325880"/>
            <a:ext cx="82296" cy="31089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472184"/>
            <a:ext cx="2295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CONTENEDOR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74720" y="1911096"/>
            <a:ext cx="22219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Instancia en ejecución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"platillo"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Comparte el kernel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Arranca en segundos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16168" y="1325880"/>
            <a:ext cx="2679192" cy="3108960"/>
          </a:xfrm>
          <a:prstGeom prst="rect">
            <a:avLst/>
          </a:prstGeom>
          <a:solidFill>
            <a:srgbClr val="12293D"/>
          </a:solidFill>
          <a:ln w="15875">
            <a:solidFill>
              <a:srgbClr val="A8B4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16168" y="1325880"/>
            <a:ext cx="82296" cy="3108960"/>
          </a:xfrm>
          <a:prstGeom prst="rect">
            <a:avLst/>
          </a:prstGeom>
          <a:solidFill>
            <a:srgbClr val="A8B4C4"/>
          </a:solidFill>
          <a:ln/>
        </p:spPr>
      </p:sp>
      <p:sp>
        <p:nvSpPr>
          <p:cNvPr id="15" name="Text 13"/>
          <p:cNvSpPr/>
          <p:nvPr/>
        </p:nvSpPr>
        <p:spPr>
          <a:xfrm>
            <a:off x="6153912" y="1472184"/>
            <a:ext cx="2295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B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MÁQUINA VIRTUAL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153912" y="1911096"/>
            <a:ext cx="22219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completo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pesada (GB)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Arranca en minutos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fuerte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Hipervisor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736592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7914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 DevOps y Contenedores · Tec de Toluca · Compártelo con tus alumnos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61288" y="310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 — comandos esenciales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161288" y="8412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tu chuleta de bolsillo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931920" cy="1508760"/>
          </a:xfrm>
          <a:prstGeom prst="rect">
            <a:avLst/>
          </a:prstGeom>
          <a:solidFill>
            <a:srgbClr val="12293D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25880"/>
            <a:ext cx="64008" cy="150876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Imágenes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746504"/>
            <a:ext cx="3639312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 -t app:1.0 .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images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rmi app:1.0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pull node:22-alpine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3931920" cy="1508760"/>
          </a:xfrm>
          <a:prstGeom prst="rect">
            <a:avLst/>
          </a:prstGeom>
          <a:solidFill>
            <a:srgbClr val="12293D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325880"/>
            <a:ext cx="64008" cy="15087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Contenedores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746504"/>
            <a:ext cx="3639312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-d -p 8080:8080 app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ps   /   docker ps -a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stop &lt;id&gt;   docker rm &lt;id&gt;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3931920" cy="1600200"/>
          </a:xfrm>
          <a:prstGeom prst="rect">
            <a:avLst/>
          </a:prstGeom>
          <a:solidFill>
            <a:srgbClr val="12293D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71800"/>
            <a:ext cx="64008" cy="1600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Inspeccionar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3392424"/>
            <a:ext cx="363931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 -f &lt;id&gt;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exec -it &lt;id&gt; sh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stats &lt;id&gt;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inspect &lt;id&gt;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63440" y="2971800"/>
            <a:ext cx="3931920" cy="1600200"/>
          </a:xfrm>
          <a:prstGeom prst="rect">
            <a:avLst/>
          </a:prstGeom>
          <a:solidFill>
            <a:srgbClr val="12293D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2971800"/>
            <a:ext cx="64008" cy="1600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Limpieza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3392424"/>
            <a:ext cx="363931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system df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system prune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volume ls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network ls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736592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7914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 DevOps y Contenedores · Tec de Toluca · Compártelo con tus alumnos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1161288" y="310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Anatomía de un Dockerfile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161288" y="8412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cada línea, explicada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228600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99616"/>
            <a:ext cx="764438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node:22-alpine        # imagen base ligera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               # carpeta de trabajo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package*.json ./      # deps primero (cache)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npm ci --omit=dev      # instala dependencias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src ./src             # luego el código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                # documenta el puerto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node                  # no correr como root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["node","src/server.js"]  # arranque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oro: del cambio menos frecuente al más frecuente (aprovecha la cache de capas).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4736592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7914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 DevOps y Contenedores · Tec de Toluca · Compártelo con tus alumnos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BBF24"/>
          </a:solidFill>
          <a:ln/>
        </p:spPr>
      </p:sp>
      <p:sp>
        <p:nvSpPr>
          <p:cNvPr id="3" name="Text 1"/>
          <p:cNvSpPr/>
          <p:nvPr/>
        </p:nvSpPr>
        <p:spPr>
          <a:xfrm>
            <a:off x="1161288" y="310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 Compose de un vistazo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161288" y="8412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varios contenedores, un comando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5029200" cy="320040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53896"/>
            <a:ext cx="4626864" cy="2944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app: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["8080:8080"]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 { DB_HOST: db }   # encuentra a la db por NOMBRE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{ db: { condition: service_healthy } }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postgres:16-alpine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volumes: [ db_data:/var/lib/postgresql/data ]   # persistencia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06440" y="1325880"/>
            <a:ext cx="2788920" cy="3200400"/>
          </a:xfrm>
          <a:prstGeom prst="rect">
            <a:avLst/>
          </a:prstGeom>
          <a:solidFill>
            <a:srgbClr val="12293D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06440" y="1325880"/>
            <a:ext cx="64008" cy="32004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5989320" y="14173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Comandos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89320" y="1746504"/>
            <a:ext cx="2496312" cy="2688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ps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logs -f app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down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down -v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(borra el volumen)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4736592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7914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 DevOps y Contenedores · Tec de Toluca · Compártelo con tus alumnos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61288" y="310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CI/CD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161288" y="8412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una línea de producción para tu código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5216" y="137160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929384" y="137160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37160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10128" y="137160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46704" y="137160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90872" y="137160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7448" y="137160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imagen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71616" y="137160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08192" y="137160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452360" y="137160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88936" y="137160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80467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93192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pasa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falla...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Trae el código al runner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/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 deps y corre pruebas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ROJO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imagen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Construye la imagen Docker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ROJO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Escanea vulnerabilidades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 / bloquea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Publica y despliega (CD)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548640" y="4736592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7914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 DevOps y Contenedores · Tec de Toluca · Compártelo con tus alumnos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61288" y="310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 de Kubernetes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161288" y="8412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quién es quién en el clúster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931920" cy="155448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25880"/>
            <a:ext cx="82296" cy="15544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47218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1911096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cerebro: decide y programa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Mantiene el estado deseado (API Server, scheduler)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3931920" cy="155448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325880"/>
            <a:ext cx="82296" cy="15544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901184" y="147218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01184" y="1911096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máquinas que ejecutan los Pods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Reportan su estado al control plane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qué sirve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Envuelve el/los contenedor(es)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Réplicas + actualizaciones (rolling)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estable (ClusterIP/NodePort/LB)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ConfigMap / Secret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Configuración / datos sensibles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4736592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47914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 DevOps y Contenedores · Tec de Toluca · Compártelo con tus alumnos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1161288" y="310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— comandos esenciales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161288" y="8412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hablar con el clúster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931920" cy="1554480"/>
          </a:xfrm>
          <a:prstGeom prst="rect">
            <a:avLst/>
          </a:prstGeom>
          <a:solidFill>
            <a:srgbClr val="12293D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25880"/>
            <a:ext cx="64008" cy="15544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746504"/>
            <a:ext cx="363931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get pods,svc -n academia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describe pod &lt;pod&gt;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get events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3931920" cy="1554480"/>
          </a:xfrm>
          <a:prstGeom prst="rect">
            <a:avLst/>
          </a:prstGeom>
          <a:solidFill>
            <a:srgbClr val="12293D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325880"/>
            <a:ext cx="64008" cy="15544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Desplegar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746504"/>
            <a:ext cx="363931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archivo.yaml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rollout status deploy/app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port-forward svc/app 8080:80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3931920" cy="1600200"/>
          </a:xfrm>
          <a:prstGeom prst="rect">
            <a:avLst/>
          </a:prstGeom>
          <a:solidFill>
            <a:srgbClr val="12293D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71800"/>
            <a:ext cx="64008" cy="1600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3392424"/>
            <a:ext cx="363931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scale deploy/app --replicas=4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set image deploy/app app=img:1.1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rollout undo deploy/app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63440" y="2971800"/>
            <a:ext cx="3931920" cy="1600200"/>
          </a:xfrm>
          <a:prstGeom prst="rect">
            <a:avLst/>
          </a:prstGeom>
          <a:solidFill>
            <a:srgbClr val="12293D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2971800"/>
            <a:ext cx="64008" cy="1600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Diagnosticar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3392424"/>
            <a:ext cx="363931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logs -f deploy/app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logs &lt;pod&gt; --previous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get pods -w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736592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7914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 DevOps y Contenedores · Tec de Toluca · Compártelo con tus alumnos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B7185"/>
          </a:solidFill>
          <a:ln/>
        </p:spPr>
      </p:sp>
      <p:sp>
        <p:nvSpPr>
          <p:cNvPr id="3" name="Text 1"/>
          <p:cNvSpPr/>
          <p:nvPr/>
        </p:nvSpPr>
        <p:spPr>
          <a:xfrm>
            <a:off x="1161288" y="310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Config, Secretos y Operación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161288" y="8412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separar config del código + operar en vivo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931920" cy="178308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25880"/>
            <a:ext cx="82296" cy="17830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47218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1911096"/>
            <a:ext cx="34747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NO sensible (APP_ENV...)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plano, va en git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inyecta como variables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3931920" cy="1783080"/>
          </a:xfrm>
          <a:prstGeom prst="rect">
            <a:avLst/>
          </a:prstGeom>
          <a:solidFill>
            <a:srgbClr val="12293D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325880"/>
            <a:ext cx="82296" cy="178308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1" name="Text 9"/>
          <p:cNvSpPr/>
          <p:nvPr/>
        </p:nvSpPr>
        <p:spPr>
          <a:xfrm>
            <a:off x="4901184" y="147218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01184" y="1911096"/>
            <a:ext cx="34747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sensibles (passwords)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base64 NO es cifrado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git (Vault, etc.)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8046720" cy="1325880"/>
          </a:xfrm>
          <a:prstGeom prst="rect">
            <a:avLst/>
          </a:prstGeom>
          <a:solidFill>
            <a:srgbClr val="12293D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246120"/>
            <a:ext cx="64008" cy="132588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Escalar · Actualizar · Rollback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3666744"/>
            <a:ext cx="775411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scale deploy/app --replicas=4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set image deploy/app app=img:1.1   # rolling update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rollout undo deploy/app             # vuelve a la version anterior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736592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7914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 DevOps y Contenedores · Tec de Toluca · Compártelo con tus alumnos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1161288" y="310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Helm de un vistazo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161288" y="8412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el gestor de paquetes de Kubernetes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931920" cy="1554480"/>
          </a:xfrm>
          <a:prstGeom prst="rect">
            <a:avLst/>
          </a:prstGeom>
          <a:solidFill>
            <a:srgbClr val="12293D"/>
          </a:solidFill>
          <a:ln w="15875">
            <a:solidFill>
              <a:srgbClr val="A8B4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25880"/>
            <a:ext cx="82296" cy="1554480"/>
          </a:xfrm>
          <a:prstGeom prst="rect">
            <a:avLst/>
          </a:prstGeom>
          <a:solidFill>
            <a:srgbClr val="A8B4C4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47218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B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YAML manual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1911096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ambientes = copiar/pegar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manual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 de reutilizar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3931920" cy="155448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325880"/>
            <a:ext cx="82296" cy="15544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901184" y="147218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01184" y="1911096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chart, muchos values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 rollback en 1 comando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reutilizables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8046720" cy="1554480"/>
          </a:xfrm>
          <a:prstGeom prst="rect">
            <a:avLst/>
          </a:prstGeom>
          <a:solidFill>
            <a:srgbClr val="12293D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017520"/>
            <a:ext cx="64008" cy="15544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Comandos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3438144"/>
            <a:ext cx="775411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helm install academia ./chart -n academia --create-namespace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helm upgrade academia ./chart --set replicaCount=4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helm history academia   /   helm rollback academia 1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helm uninstall academia -n academia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736592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7914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 DevOps y Contenedores · Tec de Toluca · Compártelo con tus alumnos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B7185"/>
          </a:solidFill>
          <a:ln/>
        </p:spPr>
      </p:sp>
      <p:sp>
        <p:nvSpPr>
          <p:cNvPr id="3" name="Text 1"/>
          <p:cNvSpPr/>
          <p:nvPr/>
        </p:nvSpPr>
        <p:spPr>
          <a:xfrm>
            <a:off x="1161288" y="310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DevSecOps: seguridad shift-left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161288" y="8412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seguridad en cada capa, no al final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mínimo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Herramienta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secretos; deps fijadas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trivy fs, npm audit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ligera, no root, escaneada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trivy image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+ scan en cada cambio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Kubernetes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securityContext, límites, probes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trivy 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Fuera de git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Secret, Vault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0690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detecta; el criterio humano decide.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4736592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47914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 DevOps y Contenedores · Tec de Toluca · Compártelo con tus alumnos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61288" y="310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Observabilidad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161288" y="8412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¿está viva? ¿sana? ¿por qué falló?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679192" cy="178308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25880"/>
            <a:ext cx="82296" cy="17830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472184"/>
            <a:ext cx="2295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1911096"/>
            <a:ext cx="222199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pasó?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con contexto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 -f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36976" y="1325880"/>
            <a:ext cx="2679192" cy="178308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36976" y="1325880"/>
            <a:ext cx="82296" cy="17830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472184"/>
            <a:ext cx="2295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MÉTRICAS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74720" y="1911096"/>
            <a:ext cx="222199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comporta?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en el tiempo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16168" y="1325880"/>
            <a:ext cx="2679192" cy="178308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16168" y="1325880"/>
            <a:ext cx="82296" cy="178308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5" name="Text 13"/>
          <p:cNvSpPr/>
          <p:nvPr/>
        </p:nvSpPr>
        <p:spPr>
          <a:xfrm>
            <a:off x="6153912" y="1472184"/>
            <a:ext cx="2295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TRAZAS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153912" y="1911096"/>
            <a:ext cx="222199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dónde pasó?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de petición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(avanzado)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246120"/>
            <a:ext cx="8046720" cy="1325880"/>
          </a:xfrm>
          <a:prstGeom prst="rect">
            <a:avLst/>
          </a:prstGeom>
          <a:solidFill>
            <a:srgbClr val="12293D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246120"/>
            <a:ext cx="64008" cy="13258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666744"/>
            <a:ext cx="775411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readinessProbe -&gt; /health   # LISTA para tráfico?  (no envía peticiones si falla)</a:t>
            </a:r>
            <a:endParaRPr lang="en-US" sz="10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E8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livenessProbe  -&gt; /health   # sigue VIVA?         (la reinicia si falla)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736592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7914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 DevOps y Contenedores · Tec de Toluca · Compártelo con tus alumnos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BBF24"/>
          </a:solidFill>
          <a:ln/>
        </p:spPr>
      </p:sp>
      <p:sp>
        <p:nvSpPr>
          <p:cNvPr id="3" name="Text 1"/>
          <p:cNvSpPr/>
          <p:nvPr/>
        </p:nvSpPr>
        <p:spPr>
          <a:xfrm>
            <a:off x="1161288" y="310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Mapa de misiones del curso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161288" y="8412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completa misiones, gana XP y medallas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6035040"/>
                <a:gridCol w="128016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Misión / Medalla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— Capitán de Contenedores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Compose — Maestro Multicontenedor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 — Automatizador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Trivy — Guardián Shift-Left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Kubernetes — Timonel del Clúster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Config/Secret — Custodio de Secretos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Escalar/Rollback — Operador en Vivo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Helm — Empaquetador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Monitoreo — Observador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 final — Arquitect@ DevOps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736592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7914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 DevOps y Contenedores · Tec de Toluca · Compártelo con tus alumnos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1161288" y="310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Glosario rápido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161288" y="8412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los términos que más vas a oír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9319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Imagen: plantilla de la app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Contenedor: imagen en ejecución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Pod: unidad mínima en K8s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gestiona réplicas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Service: acceso estable a Pods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Namespace: división del clúster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ConfigMap: config no sensible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663440" y="1371600"/>
            <a:ext cx="39319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Secret: datos sensibles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Helm: paquetes de K8s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CI/CD: build/test/deploy automático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pasos automatizados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Observabilidad: logs, métricas, trazas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DevSecOps: seguridad integrada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Rollback: volver a la versión previa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4736592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47914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 DevOps y Contenedores · Tec de Toluca · Compártelo con tus alumnos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Infografías para alumnos — DevOps</dc:title>
  <dc:subject>PptxGenJS Presentation</dc:subject>
  <dc:creator>Daniel Eduardo Gonzalez Ramirez</dc:creator>
  <cp:lastModifiedBy>Daniel Eduardo Gonzalez Ramirez</cp:lastModifiedBy>
  <cp:revision>1</cp:revision>
  <dcterms:created xsi:type="dcterms:W3CDTF">2026-06-15T02:15:00Z</dcterms:created>
  <dcterms:modified xsi:type="dcterms:W3CDTF">2026-06-15T02:15:00Z</dcterms:modified>
</cp:coreProperties>
</file>