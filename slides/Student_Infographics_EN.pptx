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DevOps lifecycle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from idea to production, over and over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41732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56362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152704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533579" y="141732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734747" y="141732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44475" y="156362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771323" y="152704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19687" y="141732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920855" y="141732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030583" y="156362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2957431" y="152704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905794" y="141732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106962" y="141732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16690" y="156362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4143538" y="152704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91902" y="141732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293070" y="141732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02798" y="156362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5329646" y="152704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78009" y="141732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479177" y="141732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588905" y="156362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6515753" y="152704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464117" y="141732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665285" y="1417320"/>
            <a:ext cx="1021515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775013" y="1563624"/>
            <a:ext cx="802059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5" name="Text 33"/>
          <p:cNvSpPr/>
          <p:nvPr/>
        </p:nvSpPr>
        <p:spPr>
          <a:xfrm>
            <a:off x="7701861" y="1527048"/>
            <a:ext cx="94836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</a:t>
            </a:r>
            <a:endParaRPr lang="en-US" sz="11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80467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  <a:gridCol w="28346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you 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your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/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and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npm, Maven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an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and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Kubernetes, Helm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the health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Prometheus, Grafana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 vulnerabilities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</a:tbl>
          </a:graphicData>
        </a:graphic>
      </p:graphicFrame>
      <p:sp>
        <p:nvSpPr>
          <p:cNvPr id="37" name="Shape 34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38" name="Shape 35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9" name="Text 36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 vs Container vs VM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3 most confused concepts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2679192" cy="3108960"/>
          </a:xfrm>
          <a:prstGeom prst="roundRect">
            <a:avLst>
              <a:gd name="adj" fmla="val 1706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" y="1399032"/>
            <a:ext cx="73152" cy="296265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46304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" y="1856232"/>
            <a:ext cx="216712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1965960"/>
            <a:ext cx="2203704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template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"recipe"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with tags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image → N containers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236976" y="1325880"/>
            <a:ext cx="2679192" cy="3108960"/>
          </a:xfrm>
          <a:prstGeom prst="roundRect">
            <a:avLst>
              <a:gd name="adj" fmla="val 1706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50692" y="1399032"/>
            <a:ext cx="73152" cy="296265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3493008" y="146304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93008" y="1856232"/>
            <a:ext cx="216712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Text 16"/>
          <p:cNvSpPr/>
          <p:nvPr/>
        </p:nvSpPr>
        <p:spPr>
          <a:xfrm>
            <a:off x="3493008" y="1965960"/>
            <a:ext cx="2203704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instance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"dish"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the kernel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in seconds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16168" y="1325880"/>
            <a:ext cx="2679192" cy="3108960"/>
          </a:xfrm>
          <a:prstGeom prst="roundRect">
            <a:avLst>
              <a:gd name="adj" fmla="val 1706"/>
            </a:avLst>
          </a:prstGeom>
          <a:solidFill>
            <a:srgbClr val="13283C"/>
          </a:solidFill>
          <a:ln w="15875">
            <a:solidFill>
              <a:srgbClr val="9FB0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9884" y="1399032"/>
            <a:ext cx="73152" cy="2962656"/>
          </a:xfrm>
          <a:prstGeom prst="rect">
            <a:avLst/>
          </a:prstGeom>
          <a:solidFill>
            <a:srgbClr val="9FB0C2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46304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9FB0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VIRTUAL MACHINE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72200" y="1856232"/>
            <a:ext cx="216712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1965960"/>
            <a:ext cx="2203704" cy="2322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(GB)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in minutes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isolation</a:t>
            </a:r>
            <a:endParaRPr lang="en-US" sz="12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— essential commands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your pocket cheat sheet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3931920" cy="1508760"/>
          </a:xfrm>
          <a:prstGeom prst="roundRect">
            <a:avLst>
              <a:gd name="adj" fmla="val 2424"/>
            </a:avLst>
          </a:prstGeom>
          <a:solidFill>
            <a:srgbClr val="13283C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" y="1380744"/>
            <a:ext cx="64008" cy="13990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417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170992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1801368"/>
            <a:ext cx="362102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build -t app:1.0 .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images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rmi app:1.0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pull node:22-alpine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3931920" cy="1508760"/>
          </a:xfrm>
          <a:prstGeom prst="roundRect">
            <a:avLst>
              <a:gd name="adj" fmla="val 2424"/>
            </a:avLst>
          </a:prstGeom>
          <a:solidFill>
            <a:srgbClr val="13283C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7156" y="1380744"/>
            <a:ext cx="64008" cy="13990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1417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Containers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64608" y="170992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1801368"/>
            <a:ext cx="3621024" cy="941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-d -p 8080:8080 app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ps   /   docker ps -a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stop &lt;id&gt;   docker rm &lt;id&gt;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3931920" cy="1600200"/>
          </a:xfrm>
          <a:prstGeom prst="roundRect">
            <a:avLst>
              <a:gd name="adj" fmla="val 2286"/>
            </a:avLst>
          </a:prstGeom>
          <a:solidFill>
            <a:srgbClr val="13283C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" y="3026664"/>
            <a:ext cx="64008" cy="149047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0632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Inspect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" y="335584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447288"/>
            <a:ext cx="36210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logs -f &lt;id&gt;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exec -it &lt;id&gt; sh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stats &lt;id&gt;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inspect &lt;id&gt;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971800"/>
            <a:ext cx="3931920" cy="1600200"/>
          </a:xfrm>
          <a:prstGeom prst="roundRect">
            <a:avLst>
              <a:gd name="adj" fmla="val 2286"/>
            </a:avLst>
          </a:prstGeom>
          <a:solidFill>
            <a:srgbClr val="13283C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7156" y="3026664"/>
            <a:ext cx="64008" cy="149047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30632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Cleanup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64608" y="335584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3447288"/>
            <a:ext cx="36210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df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system prune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volume ls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network ls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Dockerfile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every line, explained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71600"/>
            <a:ext cx="8046720" cy="2286000"/>
          </a:xfrm>
          <a:prstGeom prst="roundRect">
            <a:avLst>
              <a:gd name="adj" fmla="val 1400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408176"/>
            <a:ext cx="801014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148132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" y="148132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0704" y="148132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140817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Dockerfile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" y="1792224"/>
            <a:ext cx="7626096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node:22-alpine        # lightweight base image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WORKDIR /app               # working directory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package*.json ./      # deps first (cache)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 npm ci --omit=dev      # install dependencies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src ./src             # then the code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EXPOSE 8080                # documents the port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node                  # don't run as root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 ["node","src/server.js"]  # startup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from least to most frequently changed (leverages layer cache).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BF24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BBF24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Compose at a glance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many containers, one command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5029200" cy="3200400"/>
          </a:xfrm>
          <a:prstGeom prst="roundRect">
            <a:avLst>
              <a:gd name="adj" fmla="val 1000"/>
            </a:avLst>
          </a:prstGeom>
          <a:solidFill>
            <a:srgbClr val="060F1A"/>
          </a:solidFill>
          <a:ln w="12700">
            <a:solidFill>
              <a:srgbClr val="26486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362456"/>
            <a:ext cx="4992624" cy="274320"/>
          </a:xfrm>
          <a:prstGeom prst="rect">
            <a:avLst/>
          </a:prstGeom>
          <a:solidFill>
            <a:srgbClr val="13283C"/>
          </a:solidFill>
          <a:ln/>
        </p:spPr>
      </p:sp>
      <p:sp>
        <p:nvSpPr>
          <p:cNvPr id="11" name="Shape 9"/>
          <p:cNvSpPr/>
          <p:nvPr/>
        </p:nvSpPr>
        <p:spPr>
          <a:xfrm>
            <a:off x="713232" y="1435608"/>
            <a:ext cx="118872" cy="118872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2" name="Shape 10"/>
          <p:cNvSpPr/>
          <p:nvPr/>
        </p:nvSpPr>
        <p:spPr>
          <a:xfrm>
            <a:off x="886968" y="1435608"/>
            <a:ext cx="118872" cy="118872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0704" y="1435608"/>
            <a:ext cx="118872" cy="118872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136245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" y="1746504"/>
            <a:ext cx="460857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build: .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 ["8080:8080"]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 { DB_HOST: db }   # finds db by NAME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 { db: { condition: service_healthy } }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db: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postgres:16-alpine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 [ db_data:/var/lib/postgresql/data ]   # persistence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806440" y="1325880"/>
            <a:ext cx="2788920" cy="3200400"/>
          </a:xfrm>
          <a:prstGeom prst="roundRect">
            <a:avLst>
              <a:gd name="adj" fmla="val 1311"/>
            </a:avLst>
          </a:prstGeom>
          <a:solidFill>
            <a:srgbClr val="13283C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20156" y="1380744"/>
            <a:ext cx="64008" cy="30906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007608" y="1417320"/>
            <a:ext cx="2496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07608" y="1709928"/>
            <a:ext cx="2404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0" name="Text 18"/>
          <p:cNvSpPr/>
          <p:nvPr/>
        </p:nvSpPr>
        <p:spPr>
          <a:xfrm>
            <a:off x="6007608" y="1801368"/>
            <a:ext cx="2478024" cy="2633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ps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logs -f app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 -v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(deletes the volume)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CI/CD pipeline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production line for your 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7160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51790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" y="148132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731264" y="13716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932432" y="137160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42160" y="151790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5" name="Text 13"/>
          <p:cNvSpPr/>
          <p:nvPr/>
        </p:nvSpPr>
        <p:spPr>
          <a:xfrm>
            <a:off x="1969008" y="148132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115056" y="13716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316224" y="137160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25952" y="151790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3352800" y="148132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98848" y="13716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700016" y="137160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9744" y="151790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4736592" y="148132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image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882640" y="13716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83808" y="137160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93536" y="151790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6120384" y="148132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66432" y="1371600"/>
            <a:ext cx="237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›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467600" y="1371600"/>
            <a:ext cx="1219200" cy="822960"/>
          </a:xfrm>
          <a:prstGeom prst="roundRect">
            <a:avLst>
              <a:gd name="adj" fmla="val 8889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577328" y="1517904"/>
            <a:ext cx="999744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7504176" y="1481328"/>
            <a:ext cx="114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80467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93192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it fails...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Brings code to the runner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/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Installs deps and runs 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the Docker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Scans vulnerabilities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warns / blocks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Publishes and deploys (CD)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34" name="Shape 31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5" name="Text 32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Kubernetes architecture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who's who in the cluster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3931920" cy="1554480"/>
          </a:xfrm>
          <a:prstGeom prst="roundRect">
            <a:avLst>
              <a:gd name="adj" fmla="val 2941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" y="1399032"/>
            <a:ext cx="73152" cy="14081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4630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 PLANE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" y="185623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1965960"/>
            <a:ext cx="34564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brain: decides and schedules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desired state (API Server, scheduler)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3931920" cy="1554480"/>
          </a:xfrm>
          <a:prstGeom prst="roundRect">
            <a:avLst>
              <a:gd name="adj" fmla="val 2941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7156" y="1399032"/>
            <a:ext cx="73152" cy="14081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14630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WORKER NODES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19472" y="185623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965960"/>
            <a:ext cx="34564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machines running the Pods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status to the control plane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it's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Wraps the container(s)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Replicas + updates (rolling)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access (ClusterIP/NodePort/LB)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ConfigMap / Secret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/ sensitive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kubectl — essential commands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talking to the cluster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3931920" cy="1554480"/>
          </a:xfrm>
          <a:prstGeom prst="roundRect">
            <a:avLst>
              <a:gd name="adj" fmla="val 2353"/>
            </a:avLst>
          </a:prstGeom>
          <a:solidFill>
            <a:srgbClr val="13283C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" y="1380744"/>
            <a:ext cx="64008" cy="14447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" y="1417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49808" y="170992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1801368"/>
            <a:ext cx="362102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pods,svc -n academia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&lt;pod&gt;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events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3931920" cy="1554480"/>
          </a:xfrm>
          <a:prstGeom prst="roundRect">
            <a:avLst>
              <a:gd name="adj" fmla="val 2353"/>
            </a:avLst>
          </a:prstGeom>
          <a:solidFill>
            <a:srgbClr val="13283C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7156" y="1380744"/>
            <a:ext cx="64008" cy="14447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4864608" y="141732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64608" y="170992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1801368"/>
            <a:ext cx="362102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apply -f archivo.yaml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status deploy/app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port-forward svc/app 8080:80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3931920" cy="1600200"/>
          </a:xfrm>
          <a:prstGeom prst="roundRect">
            <a:avLst>
              <a:gd name="adj" fmla="val 2286"/>
            </a:avLst>
          </a:prstGeom>
          <a:solidFill>
            <a:srgbClr val="13283C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" y="3026664"/>
            <a:ext cx="64008" cy="149047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0632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" y="335584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447288"/>
            <a:ext cx="36210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deploy/app --replicas=4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deploy/app app=img:1.1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deploy/app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971800"/>
            <a:ext cx="3931920" cy="1600200"/>
          </a:xfrm>
          <a:prstGeom prst="roundRect">
            <a:avLst>
              <a:gd name="adj" fmla="val 2286"/>
            </a:avLst>
          </a:prstGeom>
          <a:solidFill>
            <a:srgbClr val="13283C"/>
          </a:solidFill>
          <a:ln w="12700">
            <a:solidFill>
              <a:srgbClr val="FB718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77156" y="3026664"/>
            <a:ext cx="64008" cy="149047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6" name="Text 24"/>
          <p:cNvSpPr/>
          <p:nvPr/>
        </p:nvSpPr>
        <p:spPr>
          <a:xfrm>
            <a:off x="4864608" y="30632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64608" y="3355848"/>
            <a:ext cx="35478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8" name="Text 26"/>
          <p:cNvSpPr/>
          <p:nvPr/>
        </p:nvSpPr>
        <p:spPr>
          <a:xfrm>
            <a:off x="4864608" y="3447288"/>
            <a:ext cx="3621024" cy="1033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-f deploy/app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&lt;pod&gt; --previous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pods -w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B7185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Config, Secrets &amp; Operations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separate config from code + operate live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3931920" cy="1783080"/>
          </a:xfrm>
          <a:prstGeom prst="roundRect">
            <a:avLst>
              <a:gd name="adj" fmla="val 2564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" y="1399032"/>
            <a:ext cx="73152" cy="16367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4630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ConfigMap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" y="185623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1965960"/>
            <a:ext cx="345643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NON-sensitive config (APP_ENV...)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text, goes in git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as variables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3931920" cy="1783080"/>
          </a:xfrm>
          <a:prstGeom prst="roundRect">
            <a:avLst>
              <a:gd name="adj" fmla="val 2564"/>
            </a:avLst>
          </a:prstGeom>
          <a:solidFill>
            <a:srgbClr val="13283C"/>
          </a:solidFill>
          <a:ln w="15875">
            <a:solidFill>
              <a:srgbClr val="FB7185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7156" y="1399032"/>
            <a:ext cx="73152" cy="1636776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14630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71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19472" y="185623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965960"/>
            <a:ext cx="3456432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(passwords)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is NOT encryption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git (Vault, etc.)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46120"/>
            <a:ext cx="8046720" cy="1325880"/>
          </a:xfrm>
          <a:prstGeom prst="roundRect">
            <a:avLst>
              <a:gd name="adj" fmla="val 2759"/>
            </a:avLst>
          </a:prstGeom>
          <a:solidFill>
            <a:srgbClr val="13283C"/>
          </a:solidFill>
          <a:ln w="12700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" y="3300984"/>
            <a:ext cx="64008" cy="121615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33756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· Update · Rollback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" y="3630168"/>
            <a:ext cx="76626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721608"/>
            <a:ext cx="773582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deploy/app --replicas=4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deploy/app app=img:1.1   # rolling update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rollout undo deploy/app             # back to previous version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 at a glance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Kubernetes package manager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3931920" cy="1554480"/>
          </a:xfrm>
          <a:prstGeom prst="roundRect">
            <a:avLst>
              <a:gd name="adj" fmla="val 2941"/>
            </a:avLst>
          </a:prstGeom>
          <a:solidFill>
            <a:srgbClr val="13283C"/>
          </a:solidFill>
          <a:ln w="15875">
            <a:solidFill>
              <a:srgbClr val="9FB0C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" y="1399032"/>
            <a:ext cx="73152" cy="1408176"/>
          </a:xfrm>
          <a:prstGeom prst="rect">
            <a:avLst/>
          </a:prstGeom>
          <a:solidFill>
            <a:srgbClr val="9FB0C2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4630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9FB0C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YAML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" y="185623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1965960"/>
            <a:ext cx="34564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environments = copy/paste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rollback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reuse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1325880"/>
            <a:ext cx="3931920" cy="1554480"/>
          </a:xfrm>
          <a:prstGeom prst="roundRect">
            <a:avLst>
              <a:gd name="adj" fmla="val 2941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77156" y="1399032"/>
            <a:ext cx="73152" cy="14081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4919472" y="1463040"/>
            <a:ext cx="3529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919472" y="1856232"/>
            <a:ext cx="3419856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Text 16"/>
          <p:cNvSpPr/>
          <p:nvPr/>
        </p:nvSpPr>
        <p:spPr>
          <a:xfrm>
            <a:off x="4919472" y="1965960"/>
            <a:ext cx="3456432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chart, many values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rollback in 1 command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templates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8046720" cy="1554480"/>
          </a:xfrm>
          <a:prstGeom prst="roundRect">
            <a:avLst>
              <a:gd name="adj" fmla="val 2353"/>
            </a:avLst>
          </a:prstGeom>
          <a:solidFill>
            <a:srgbClr val="13283C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" y="3072384"/>
            <a:ext cx="64008" cy="14447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10896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49808" y="3401568"/>
            <a:ext cx="76626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3" name="Text 21"/>
          <p:cNvSpPr/>
          <p:nvPr/>
        </p:nvSpPr>
        <p:spPr>
          <a:xfrm>
            <a:off x="749808" y="3493008"/>
            <a:ext cx="7735824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install academia ./chart -n academia --create-namespace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upgrade academia ./chart --set replicaCount=4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history academia   /   helm rollback academia 1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helm uninstall academia -n academia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B7185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DevSecOps: shift-left security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security at every layer, not at the end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FB7185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secrets; pinned deps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 fs, npm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base, non-root, scanned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+ scan on every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securityContext, limits, probes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 of git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Secret, Vault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40690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detects; human judgment decides.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2" name="Shape 9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22D3EE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is it alive? healthy? why did it fail?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325880"/>
            <a:ext cx="2679192" cy="1783080"/>
          </a:xfrm>
          <a:prstGeom prst="roundRect">
            <a:avLst>
              <a:gd name="adj" fmla="val 2564"/>
            </a:avLst>
          </a:prstGeom>
          <a:solidFill>
            <a:srgbClr val="13283C"/>
          </a:solidFill>
          <a:ln w="15875">
            <a:solidFill>
              <a:srgbClr val="22D3E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2356" y="1399032"/>
            <a:ext cx="73152" cy="1636776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146304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4672" y="1856232"/>
            <a:ext cx="216712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1965960"/>
            <a:ext cx="2203704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with context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logs -f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36976" y="1325880"/>
            <a:ext cx="2679192" cy="1783080"/>
          </a:xfrm>
          <a:prstGeom prst="roundRect">
            <a:avLst>
              <a:gd name="adj" fmla="val 2564"/>
            </a:avLst>
          </a:prstGeom>
          <a:solidFill>
            <a:srgbClr val="13283C"/>
          </a:solidFill>
          <a:ln w="15875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50692" y="1399032"/>
            <a:ext cx="73152" cy="16367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3493008" y="146304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493008" y="1856232"/>
            <a:ext cx="216712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8" name="Text 16"/>
          <p:cNvSpPr/>
          <p:nvPr/>
        </p:nvSpPr>
        <p:spPr>
          <a:xfrm>
            <a:off x="3493008" y="1965960"/>
            <a:ext cx="2203704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behave?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over time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16168" y="1325880"/>
            <a:ext cx="2679192" cy="1783080"/>
          </a:xfrm>
          <a:prstGeom prst="roundRect">
            <a:avLst>
              <a:gd name="adj" fmla="val 2564"/>
            </a:avLst>
          </a:prstGeom>
          <a:solidFill>
            <a:srgbClr val="13283C"/>
          </a:solidFill>
          <a:ln w="15875">
            <a:solidFill>
              <a:srgbClr val="FBBF24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29884" y="1399032"/>
            <a:ext cx="73152" cy="1636776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146304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FBBF2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72200" y="1856232"/>
            <a:ext cx="2167128" cy="16459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1965960"/>
            <a:ext cx="2203704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it go?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journey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(advanced)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246120"/>
            <a:ext cx="8046720" cy="1325880"/>
          </a:xfrm>
          <a:prstGeom prst="roundRect">
            <a:avLst>
              <a:gd name="adj" fmla="val 2759"/>
            </a:avLst>
          </a:prstGeom>
          <a:solidFill>
            <a:srgbClr val="13283C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2356" y="3300984"/>
            <a:ext cx="64008" cy="121615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3337560"/>
            <a:ext cx="7754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" kern="0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" y="3630168"/>
            <a:ext cx="7662672" cy="14630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3721608"/>
            <a:ext cx="7735824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readinessProbe -&gt; /health   # READY for traffic?  (no requests if it fails)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EA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livenessProbe  -&gt; /health   # still ALIVE?        (restarts it if it fails)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BF24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BBF24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mission map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complete missions, earn XP and badges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FBBF24"/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6035040"/>
                <a:gridCol w="128016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Mission / Badge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— Container Captain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 — Multi-container Master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— Automator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Trivy — Shift-Left Guardian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— Cluster Helmsman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Config/Secret — Keeper of Secrets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Scale/Rollback — Live Operator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Helm — Packager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— Observer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13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project — DevOps Architect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A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48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83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82128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8229600" y="384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B7185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882128" y="7315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4D399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347472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34D399"/>
          </a:solidFill>
          <a:ln/>
          <a:effectLst>
            <a:outerShdw sx="100000" sy="100000" kx="0" ky="0" algn="bl" rotWithShape="0" blurRad="50800" dist="25400" dir="5400000">
              <a:srgbClr val="000000">
                <a:alpha val="4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61288" y="31089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glossary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61288" y="84124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terms you'll hear most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79576" y="786384"/>
            <a:ext cx="914400" cy="274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app template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running image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Pod: smallest K8s unit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manages replicas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 stable access to Pods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Namespace: cluster division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ConfigMap: non-sensitive config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663440" y="13716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Secret: sensitive data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Helm: K8s packages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automated build/test/deploy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automated steps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 logs, metrics, traces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DevSecOps: integrated security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Rollback: back to previous version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736592"/>
            <a:ext cx="8046720" cy="10973"/>
          </a:xfrm>
          <a:prstGeom prst="rect">
            <a:avLst/>
          </a:prstGeom>
          <a:solidFill>
            <a:srgbClr val="26486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4828032"/>
            <a:ext cx="91440" cy="914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479145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DevOps &amp; Containers Course · Tec de Toluca · Share it with your students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infographics — DevOps</dc:title>
  <dc:subject>PptxGenJS Presentation</dc:subject>
  <dc:creator>Daniel Eduardo Gonzalez Ramirez</dc:creator>
  <cp:lastModifiedBy>Daniel Eduardo Gonzalez Ramirez</cp:lastModifiedBy>
  <cp:revision>1</cp:revision>
  <dcterms:created xsi:type="dcterms:W3CDTF">2026-06-16T00:35:12Z</dcterms:created>
  <dcterms:modified xsi:type="dcterms:W3CDTF">2026-06-16T00:35:12Z</dcterms:modified>
</cp:coreProperties>
</file>