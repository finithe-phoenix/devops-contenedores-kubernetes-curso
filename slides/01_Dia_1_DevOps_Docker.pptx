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18120" y="4572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2D3EE"/>
          </a:solidFill>
          <a:ln/>
          <a:effectLst>
            <a:outerShdw sx="100000" sy="100000" kx="0" ky="0" algn="bl" rotWithShape="0" blurRad="50800" dist="25400" dir="5400000">
              <a:srgbClr val="000000">
                <a:alpha val="40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8321040" y="4572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B7185">
              <a:alpha val="7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818120" y="96012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34D399">
              <a:alpha val="7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417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spc="1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CURSO-TALLER · DÍA 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1828800"/>
            <a:ext cx="8138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Fundamentos DevOps,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Git y Docker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566928" y="3154680"/>
            <a:ext cx="1280160" cy="36576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329184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F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código fuente a contenedor en ejecución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48640" y="4343400"/>
            <a:ext cx="8046720" cy="10973"/>
          </a:xfrm>
          <a:prstGeom prst="rect">
            <a:avLst/>
          </a:prstGeom>
          <a:solidFill>
            <a:srgbClr val="264862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448056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0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Tecnológico de Toluca · Daniel E. González Ramírez · 24 h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22D3EE"/>
          </a:solidFill>
          <a:ln/>
          <a:effectLst>
            <a:outerShdw sx="100000" sy="100000" kx="0" ky="0" algn="bl" rotWithShape="0" blurRad="50800" dist="25400" dir="5400000">
              <a:srgbClr val="000000">
                <a:alpha val="4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16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80160" y="48463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agenda · 4 días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80160" y="749808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 viaje de los próximos 4 días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1298448" y="1316736"/>
            <a:ext cx="1005840" cy="3200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828800"/>
            <a:ext cx="1911096" cy="822960"/>
          </a:xfrm>
          <a:prstGeom prst="roundRect">
            <a:avLst>
              <a:gd name="adj" fmla="val 8889"/>
            </a:avLst>
          </a:prstGeom>
          <a:solidFill>
            <a:srgbClr val="13283C"/>
          </a:solidFill>
          <a:ln w="15875">
            <a:solidFill>
              <a:srgbClr val="22D3E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4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58368" y="1975104"/>
            <a:ext cx="1691640" cy="27432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9" name="Text 7"/>
          <p:cNvSpPr/>
          <p:nvPr/>
        </p:nvSpPr>
        <p:spPr>
          <a:xfrm>
            <a:off x="585216" y="1938528"/>
            <a:ext cx="18379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2423160" y="1828800"/>
            <a:ext cx="2377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2624328" y="1828800"/>
            <a:ext cx="1911096" cy="822960"/>
          </a:xfrm>
          <a:prstGeom prst="roundRect">
            <a:avLst>
              <a:gd name="adj" fmla="val 8889"/>
            </a:avLst>
          </a:prstGeom>
          <a:solidFill>
            <a:srgbClr val="13283C"/>
          </a:solidFill>
          <a:ln w="15875">
            <a:solidFill>
              <a:srgbClr val="22D3E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4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34056" y="1975104"/>
            <a:ext cx="1691640" cy="27432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3" name="Text 11"/>
          <p:cNvSpPr/>
          <p:nvPr/>
        </p:nvSpPr>
        <p:spPr>
          <a:xfrm>
            <a:off x="2660904" y="1938528"/>
            <a:ext cx="18379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 +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498848" y="1828800"/>
            <a:ext cx="2377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700016" y="1828800"/>
            <a:ext cx="1911096" cy="822960"/>
          </a:xfrm>
          <a:prstGeom prst="roundRect">
            <a:avLst>
              <a:gd name="adj" fmla="val 8889"/>
            </a:avLst>
          </a:prstGeom>
          <a:solidFill>
            <a:srgbClr val="13283C"/>
          </a:solidFill>
          <a:ln w="15875">
            <a:solidFill>
              <a:srgbClr val="22D3E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4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809744" y="1975104"/>
            <a:ext cx="1691640" cy="27432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7" name="Text 15"/>
          <p:cNvSpPr/>
          <p:nvPr/>
        </p:nvSpPr>
        <p:spPr>
          <a:xfrm>
            <a:off x="4736592" y="1938528"/>
            <a:ext cx="18379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Helm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574536" y="1828800"/>
            <a:ext cx="2377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6775704" y="1828800"/>
            <a:ext cx="1911096" cy="822960"/>
          </a:xfrm>
          <a:prstGeom prst="roundRect">
            <a:avLst>
              <a:gd name="adj" fmla="val 8889"/>
            </a:avLst>
          </a:prstGeom>
          <a:solidFill>
            <a:srgbClr val="13283C"/>
          </a:solidFill>
          <a:ln w="15875">
            <a:solidFill>
              <a:srgbClr val="22D3E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4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885432" y="1975104"/>
            <a:ext cx="1691640" cy="27432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21" name="Text 19"/>
          <p:cNvSpPr/>
          <p:nvPr/>
        </p:nvSpPr>
        <p:spPr>
          <a:xfrm>
            <a:off x="6812280" y="1938528"/>
            <a:ext cx="18379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Observar +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48640" y="2926080"/>
            <a:ext cx="813816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Día 1: contenerizamos una app desde cero.</a:t>
            </a:r>
            <a:endParaRPr lang="en-US" sz="15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Día 2: la levantamos con su base de datos y la automatizamos.</a:t>
            </a:r>
            <a:endParaRPr lang="en-US" sz="15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Día 3: la desplegamos, escalamos y actualizamos en Kubernetes.</a:t>
            </a:r>
            <a:endParaRPr lang="en-US" sz="15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Día 4: la monitoreamos, aseguramos y la convertimos en práctica docente.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22D3EE"/>
          </a:solidFill>
          <a:ln/>
          <a:effectLst>
            <a:outerShdw sx="100000" sy="100000" kx="0" ky="0" algn="bl" rotWithShape="0" blurRad="50800" dist="25400" dir="5400000">
              <a:srgbClr val="000000">
                <a:alpha val="4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16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80160" y="48463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el problema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80160" y="749808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"En mi máquina sí funciona"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1298448" y="1316736"/>
            <a:ext cx="1005840" cy="3200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920240"/>
            <a:ext cx="8046720" cy="1554480"/>
          </a:xfrm>
          <a:prstGeom prst="roundRect">
            <a:avLst>
              <a:gd name="adj" fmla="val 2941"/>
            </a:avLst>
          </a:prstGeom>
          <a:solidFill>
            <a:srgbClr val="13283C"/>
          </a:solidFill>
          <a:ln w="19050">
            <a:solidFill>
              <a:srgbClr val="FB7185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62356" y="1993392"/>
            <a:ext cx="91440" cy="1408176"/>
          </a:xfrm>
          <a:prstGeom prst="rect">
            <a:avLst/>
          </a:prstGeom>
          <a:solidFill>
            <a:srgbClr val="FB7185"/>
          </a:solidFill>
          <a:ln/>
        </p:spPr>
      </p:sp>
      <p:sp>
        <p:nvSpPr>
          <p:cNvPr id="9" name="Text 7"/>
          <p:cNvSpPr/>
          <p:nvPr/>
        </p:nvSpPr>
        <p:spPr>
          <a:xfrm>
            <a:off x="896112" y="2121408"/>
            <a:ext cx="7498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B718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 clásico que todos conocemos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896112" y="283464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código corre en tu laptop... y se rompe en la del alumno, en el servidor o en la revisión. Distintas versiones, dependencias y sistemas operativos.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48640" y="3657600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existe para que "funcione en todas partes", no solo en una máquina.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22D3EE"/>
          </a:solidFill>
          <a:ln/>
          <a:effectLst>
            <a:outerShdw sx="100000" sy="100000" kx="0" ky="0" algn="bl" rotWithShape="0" blurRad="50800" dist="25400" dir="5400000">
              <a:srgbClr val="000000">
                <a:alpha val="4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16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80160" y="48463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concepto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80160" y="749808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¿Qué es DevOps?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1298448" y="1316736"/>
            <a:ext cx="1005840" cy="3200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645920"/>
            <a:ext cx="813816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Cultura: desarrollo y operación trabajan juntos, no en silos.</a:t>
            </a:r>
            <a:endParaRPr lang="en-US" sz="16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Automatización: build, pruebas, despliegue y monitoreo sin pasos manuales.</a:t>
            </a:r>
            <a:endParaRPr lang="en-US" sz="16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Integración: desarrollo + pruebas + seguridad + operación en un solo flujo.</a:t>
            </a:r>
            <a:endParaRPr lang="en-US" sz="16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 una herramienta: es una forma de pensar el ciclo completo del software.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22D3EE"/>
          </a:solidFill>
          <a:ln/>
          <a:effectLst>
            <a:outerShdw sx="100000" sy="100000" kx="0" ky="0" algn="bl" rotWithShape="0" blurRad="50800" dist="25400" dir="5400000">
              <a:srgbClr val="000000">
                <a:alpha val="4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16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80160" y="48463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el flujo moderno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80160" y="749808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 ciclo: de la idea a producción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1298448" y="1316736"/>
            <a:ext cx="1005840" cy="3200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920240"/>
            <a:ext cx="1021515" cy="822960"/>
          </a:xfrm>
          <a:prstGeom prst="roundRect">
            <a:avLst>
              <a:gd name="adj" fmla="val 8889"/>
            </a:avLst>
          </a:prstGeom>
          <a:solidFill>
            <a:srgbClr val="13283C"/>
          </a:solidFill>
          <a:ln w="15875">
            <a:solidFill>
              <a:srgbClr val="22D3E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4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58368" y="2066544"/>
            <a:ext cx="802059" cy="27432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9" name="Text 7"/>
          <p:cNvSpPr/>
          <p:nvPr/>
        </p:nvSpPr>
        <p:spPr>
          <a:xfrm>
            <a:off x="585216" y="2029968"/>
            <a:ext cx="948363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1533579" y="1920240"/>
            <a:ext cx="2377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734747" y="1920240"/>
            <a:ext cx="1021515" cy="822960"/>
          </a:xfrm>
          <a:prstGeom prst="roundRect">
            <a:avLst>
              <a:gd name="adj" fmla="val 8889"/>
            </a:avLst>
          </a:prstGeom>
          <a:solidFill>
            <a:srgbClr val="13283C"/>
          </a:solidFill>
          <a:ln w="15875">
            <a:solidFill>
              <a:srgbClr val="22D3E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4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844475" y="2066544"/>
            <a:ext cx="802059" cy="27432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3" name="Text 11"/>
          <p:cNvSpPr/>
          <p:nvPr/>
        </p:nvSpPr>
        <p:spPr>
          <a:xfrm>
            <a:off x="1771323" y="2029968"/>
            <a:ext cx="948363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2719687" y="1920240"/>
            <a:ext cx="2377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2920855" y="1920240"/>
            <a:ext cx="1021515" cy="822960"/>
          </a:xfrm>
          <a:prstGeom prst="roundRect">
            <a:avLst>
              <a:gd name="adj" fmla="val 8889"/>
            </a:avLst>
          </a:prstGeom>
          <a:solidFill>
            <a:srgbClr val="13283C"/>
          </a:solidFill>
          <a:ln w="15875">
            <a:solidFill>
              <a:srgbClr val="22D3E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4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030583" y="2066544"/>
            <a:ext cx="802059" cy="27432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7" name="Text 15"/>
          <p:cNvSpPr/>
          <p:nvPr/>
        </p:nvSpPr>
        <p:spPr>
          <a:xfrm>
            <a:off x="2957431" y="2029968"/>
            <a:ext cx="948363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905794" y="1920240"/>
            <a:ext cx="2377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4106962" y="1920240"/>
            <a:ext cx="1021515" cy="822960"/>
          </a:xfrm>
          <a:prstGeom prst="roundRect">
            <a:avLst>
              <a:gd name="adj" fmla="val 8889"/>
            </a:avLst>
          </a:prstGeom>
          <a:solidFill>
            <a:srgbClr val="13283C"/>
          </a:solidFill>
          <a:ln w="15875">
            <a:solidFill>
              <a:srgbClr val="22D3E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4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216690" y="2066544"/>
            <a:ext cx="802059" cy="27432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21" name="Text 19"/>
          <p:cNvSpPr/>
          <p:nvPr/>
        </p:nvSpPr>
        <p:spPr>
          <a:xfrm>
            <a:off x="4143538" y="2029968"/>
            <a:ext cx="948363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empacar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091902" y="1920240"/>
            <a:ext cx="2377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5293070" y="1920240"/>
            <a:ext cx="1021515" cy="822960"/>
          </a:xfrm>
          <a:prstGeom prst="roundRect">
            <a:avLst>
              <a:gd name="adj" fmla="val 8889"/>
            </a:avLst>
          </a:prstGeom>
          <a:solidFill>
            <a:srgbClr val="13283C"/>
          </a:solidFill>
          <a:ln w="15875">
            <a:solidFill>
              <a:srgbClr val="22D3E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4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402798" y="2066544"/>
            <a:ext cx="802059" cy="27432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25" name="Text 23"/>
          <p:cNvSpPr/>
          <p:nvPr/>
        </p:nvSpPr>
        <p:spPr>
          <a:xfrm>
            <a:off x="5329646" y="2029968"/>
            <a:ext cx="948363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278009" y="1920240"/>
            <a:ext cx="2377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6479177" y="1920240"/>
            <a:ext cx="1021515" cy="822960"/>
          </a:xfrm>
          <a:prstGeom prst="roundRect">
            <a:avLst>
              <a:gd name="adj" fmla="val 8889"/>
            </a:avLst>
          </a:prstGeom>
          <a:solidFill>
            <a:srgbClr val="13283C"/>
          </a:solidFill>
          <a:ln w="15875">
            <a:solidFill>
              <a:srgbClr val="22D3E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4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588905" y="2066544"/>
            <a:ext cx="802059" cy="27432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29" name="Text 27"/>
          <p:cNvSpPr/>
          <p:nvPr/>
        </p:nvSpPr>
        <p:spPr>
          <a:xfrm>
            <a:off x="6515753" y="2029968"/>
            <a:ext cx="948363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7464117" y="1920240"/>
            <a:ext cx="2377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7665285" y="1920240"/>
            <a:ext cx="1021515" cy="822960"/>
          </a:xfrm>
          <a:prstGeom prst="roundRect">
            <a:avLst>
              <a:gd name="adj" fmla="val 8889"/>
            </a:avLst>
          </a:prstGeom>
          <a:solidFill>
            <a:srgbClr val="13283C"/>
          </a:solidFill>
          <a:ln w="15875">
            <a:solidFill>
              <a:srgbClr val="22D3E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4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7775013" y="2066544"/>
            <a:ext cx="802059" cy="27432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3" name="Text 31"/>
          <p:cNvSpPr/>
          <p:nvPr/>
        </p:nvSpPr>
        <p:spPr>
          <a:xfrm>
            <a:off x="7701861" y="2029968"/>
            <a:ext cx="948363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proteger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548640" y="3017520"/>
            <a:ext cx="81381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etapa se automatiza y se repite igual siempre.</a:t>
            </a:r>
            <a:endParaRPr lang="en-US" sz="16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algo falla temprano, no llega a producción.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22D3EE"/>
          </a:solidFill>
          <a:ln/>
          <a:effectLst>
            <a:outerShdw sx="100000" sy="100000" kx="0" ky="0" algn="bl" rotWithShape="0" blurRad="50800" dist="25400" dir="5400000">
              <a:srgbClr val="000000">
                <a:alpha val="4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16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80160" y="48463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no confundir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80160" y="749808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DevOps vs CI/CD vs SRE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1298448" y="1316736"/>
            <a:ext cx="1005840" cy="3200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691640"/>
            <a:ext cx="2542032" cy="2834640"/>
          </a:xfrm>
          <a:prstGeom prst="roundRect">
            <a:avLst>
              <a:gd name="adj" fmla="val 1799"/>
            </a:avLst>
          </a:prstGeom>
          <a:solidFill>
            <a:srgbClr val="13283C"/>
          </a:solidFill>
          <a:ln w="15875">
            <a:solidFill>
              <a:srgbClr val="22D3EE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62356" y="1764792"/>
            <a:ext cx="73152" cy="2688336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9" name="Text 7"/>
          <p:cNvSpPr/>
          <p:nvPr/>
        </p:nvSpPr>
        <p:spPr>
          <a:xfrm>
            <a:off x="804672" y="1828800"/>
            <a:ext cx="2139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DevOps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04672" y="2221992"/>
            <a:ext cx="2029968" cy="16459"/>
          </a:xfrm>
          <a:prstGeom prst="rect">
            <a:avLst/>
          </a:prstGeom>
          <a:solidFill>
            <a:srgbClr val="264862"/>
          </a:solidFill>
          <a:ln/>
        </p:spPr>
      </p:sp>
      <p:sp>
        <p:nvSpPr>
          <p:cNvPr id="11" name="Text 9"/>
          <p:cNvSpPr/>
          <p:nvPr/>
        </p:nvSpPr>
        <p:spPr>
          <a:xfrm>
            <a:off x="804672" y="2331720"/>
            <a:ext cx="2066544" cy="20482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cultura y las prácticas</a:t>
            </a:r>
            <a:endParaRPr lang="en-US" sz="12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dev + ops</a:t>
            </a:r>
            <a:endParaRPr lang="en-US" sz="12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"qué" y el "porqué"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200400" y="1691640"/>
            <a:ext cx="2542032" cy="2834640"/>
          </a:xfrm>
          <a:prstGeom prst="roundRect">
            <a:avLst>
              <a:gd name="adj" fmla="val 1799"/>
            </a:avLst>
          </a:prstGeom>
          <a:solidFill>
            <a:srgbClr val="13283C"/>
          </a:solidFill>
          <a:ln w="15875">
            <a:solidFill>
              <a:srgbClr val="34D399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14116" y="1764792"/>
            <a:ext cx="73152" cy="2688336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14" name="Text 12"/>
          <p:cNvSpPr/>
          <p:nvPr/>
        </p:nvSpPr>
        <p:spPr>
          <a:xfrm>
            <a:off x="3456432" y="1828800"/>
            <a:ext cx="2139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34D3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CI/CD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3456432" y="2221992"/>
            <a:ext cx="2029968" cy="16459"/>
          </a:xfrm>
          <a:prstGeom prst="rect">
            <a:avLst/>
          </a:prstGeom>
          <a:solidFill>
            <a:srgbClr val="264862"/>
          </a:solidFill>
          <a:ln/>
        </p:spPr>
      </p:sp>
      <p:sp>
        <p:nvSpPr>
          <p:cNvPr id="16" name="Text 14"/>
          <p:cNvSpPr/>
          <p:nvPr/>
        </p:nvSpPr>
        <p:spPr>
          <a:xfrm>
            <a:off x="3456432" y="2331720"/>
            <a:ext cx="2066544" cy="20482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automatización</a:t>
            </a:r>
            <a:endParaRPr lang="en-US" sz="12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Build, test, deploy</a:t>
            </a:r>
            <a:endParaRPr lang="en-US" sz="12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"cómo" técnico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669280" y="1691640"/>
            <a:ext cx="2542032" cy="2834640"/>
          </a:xfrm>
          <a:prstGeom prst="roundRect">
            <a:avLst>
              <a:gd name="adj" fmla="val 1799"/>
            </a:avLst>
          </a:prstGeom>
          <a:solidFill>
            <a:srgbClr val="13283C"/>
          </a:solidFill>
          <a:ln w="15875">
            <a:solidFill>
              <a:srgbClr val="FBBF24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682996" y="1764792"/>
            <a:ext cx="73152" cy="2688336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19" name="Text 17"/>
          <p:cNvSpPr/>
          <p:nvPr/>
        </p:nvSpPr>
        <p:spPr>
          <a:xfrm>
            <a:off x="5925312" y="1828800"/>
            <a:ext cx="2139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BBF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SRE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925312" y="2221992"/>
            <a:ext cx="2029968" cy="16459"/>
          </a:xfrm>
          <a:prstGeom prst="rect">
            <a:avLst/>
          </a:prstGeom>
          <a:solidFill>
            <a:srgbClr val="264862"/>
          </a:solidFill>
          <a:ln/>
        </p:spPr>
      </p:sp>
      <p:sp>
        <p:nvSpPr>
          <p:cNvPr id="21" name="Text 19"/>
          <p:cNvSpPr/>
          <p:nvPr/>
        </p:nvSpPr>
        <p:spPr>
          <a:xfrm>
            <a:off x="5925312" y="2331720"/>
            <a:ext cx="2066544" cy="20482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Operar con ingeniería</a:t>
            </a:r>
            <a:endParaRPr lang="en-US" sz="12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SLOs, fiabilidad</a:t>
            </a:r>
            <a:endParaRPr lang="en-US" sz="12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"qué tan bien"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22D3EE"/>
          </a:solidFill>
          <a:ln/>
          <a:effectLst>
            <a:outerShdw sx="100000" sy="100000" kx="0" ky="0" algn="bl" rotWithShape="0" blurRad="50800" dist="25400" dir="5400000">
              <a:srgbClr val="000000">
                <a:alpha val="4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16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80160" y="48463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día 1 · git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80160" y="749808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Git: la base de todo el flujo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1298448" y="1316736"/>
            <a:ext cx="1005840" cy="3200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645920"/>
            <a:ext cx="81381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empieza versionado: repositorio, commits, ramas.</a:t>
            </a:r>
            <a:endParaRPr lang="en-US" sz="16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Rama → commit → push → pull request → merge.</a:t>
            </a:r>
            <a:endParaRPr lang="en-US" sz="16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repo profesional: README, .gitignore, releases.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3154680"/>
            <a:ext cx="8046720" cy="1463040"/>
          </a:xfrm>
          <a:prstGeom prst="roundRect">
            <a:avLst>
              <a:gd name="adj" fmla="val 2188"/>
            </a:avLst>
          </a:prstGeom>
          <a:solidFill>
            <a:srgbClr val="060F1A"/>
          </a:solidFill>
          <a:ln w="12700">
            <a:solidFill>
              <a:srgbClr val="264862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66928" y="3191256"/>
            <a:ext cx="8010144" cy="274320"/>
          </a:xfrm>
          <a:prstGeom prst="rect">
            <a:avLst/>
          </a:prstGeom>
          <a:solidFill>
            <a:srgbClr val="13283C"/>
          </a:solidFill>
          <a:ln/>
        </p:spPr>
      </p:sp>
      <p:sp>
        <p:nvSpPr>
          <p:cNvPr id="10" name="Shape 8"/>
          <p:cNvSpPr/>
          <p:nvPr/>
        </p:nvSpPr>
        <p:spPr>
          <a:xfrm>
            <a:off x="713232" y="3264408"/>
            <a:ext cx="118872" cy="118872"/>
          </a:xfrm>
          <a:prstGeom prst="ellipse">
            <a:avLst/>
          </a:prstGeom>
          <a:solidFill>
            <a:srgbClr val="FB7185"/>
          </a:solidFill>
          <a:ln/>
        </p:spPr>
      </p:sp>
      <p:sp>
        <p:nvSpPr>
          <p:cNvPr id="11" name="Shape 9"/>
          <p:cNvSpPr/>
          <p:nvPr/>
        </p:nvSpPr>
        <p:spPr>
          <a:xfrm>
            <a:off x="886968" y="3264408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2" name="Shape 10"/>
          <p:cNvSpPr/>
          <p:nvPr/>
        </p:nvSpPr>
        <p:spPr>
          <a:xfrm>
            <a:off x="1060704" y="3264408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3" name="Text 11"/>
          <p:cNvSpPr/>
          <p:nvPr/>
        </p:nvSpPr>
        <p:spPr>
          <a:xfrm>
            <a:off x="768096" y="3575304"/>
            <a:ext cx="7626096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clone &lt;repo-del-curso&gt;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checkout -b feature/dockerfile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add . &amp;&amp; git commit -m "feat: agrega Dockerfile"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push origin feature/dockerfile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22D3EE"/>
          </a:solidFill>
          <a:ln/>
          <a:effectLst>
            <a:outerShdw sx="100000" sy="100000" kx="0" ky="0" algn="bl" rotWithShape="0" blurRad="50800" dist="25400" dir="5400000">
              <a:srgbClr val="000000">
                <a:alpha val="4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16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80160" y="48463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día 1 · docker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80160" y="749808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Docker: ¿qué problema resuelve?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1298448" y="1316736"/>
            <a:ext cx="1005840" cy="3200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645920"/>
            <a:ext cx="813816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Empaqueta la app CON todo lo que necesita para correr.</a:t>
            </a:r>
            <a:endParaRPr lang="en-US" sz="16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misma imagen corre igual en tu laptop, en CI y en el servidor.</a:t>
            </a:r>
            <a:endParaRPr lang="en-US" sz="16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Adiós a "instala estas 12 cosas antes de ejecutar".</a:t>
            </a:r>
            <a:endParaRPr lang="en-US" sz="16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Ligero y rápido: comparte el kernel del sistema (no es una VM completa).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22D3EE"/>
          </a:solidFill>
          <a:ln/>
          <a:effectLst>
            <a:outerShdw sx="100000" sy="100000" kx="0" ky="0" algn="bl" rotWithShape="0" blurRad="50800" dist="25400" dir="5400000">
              <a:srgbClr val="000000">
                <a:alpha val="4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16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80160" y="48463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concepto clave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80160" y="749808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Imagen vs Contenedor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1298448" y="1316736"/>
            <a:ext cx="1005840" cy="3200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691640"/>
            <a:ext cx="3886200" cy="2743200"/>
          </a:xfrm>
          <a:prstGeom prst="roundRect">
            <a:avLst>
              <a:gd name="adj" fmla="val 1667"/>
            </a:avLst>
          </a:prstGeom>
          <a:solidFill>
            <a:srgbClr val="13283C"/>
          </a:solidFill>
          <a:ln w="15875">
            <a:solidFill>
              <a:srgbClr val="22D3EE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62356" y="1764792"/>
            <a:ext cx="73152" cy="2596896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9" name="Text 7"/>
          <p:cNvSpPr/>
          <p:nvPr/>
        </p:nvSpPr>
        <p:spPr>
          <a:xfrm>
            <a:off x="804672" y="1828800"/>
            <a:ext cx="3483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IMAGEN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04672" y="2221992"/>
            <a:ext cx="3374136" cy="16459"/>
          </a:xfrm>
          <a:prstGeom prst="rect">
            <a:avLst/>
          </a:prstGeom>
          <a:solidFill>
            <a:srgbClr val="264862"/>
          </a:solidFill>
          <a:ln/>
        </p:spPr>
      </p:sp>
      <p:sp>
        <p:nvSpPr>
          <p:cNvPr id="11" name="Text 9"/>
          <p:cNvSpPr/>
          <p:nvPr/>
        </p:nvSpPr>
        <p:spPr>
          <a:xfrm>
            <a:off x="804672" y="2331720"/>
            <a:ext cx="3410712" cy="19568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Plantilla inmutable (la receta)</a:t>
            </a:r>
            <a:endParaRPr lang="en-US" sz="12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construye: docker build</a:t>
            </a:r>
            <a:endParaRPr lang="en-US" sz="12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imagen → muchos contenedores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663440" y="1691640"/>
            <a:ext cx="3931920" cy="2743200"/>
          </a:xfrm>
          <a:prstGeom prst="roundRect">
            <a:avLst>
              <a:gd name="adj" fmla="val 1667"/>
            </a:avLst>
          </a:prstGeom>
          <a:solidFill>
            <a:srgbClr val="13283C"/>
          </a:solidFill>
          <a:ln w="15875">
            <a:solidFill>
              <a:srgbClr val="34D399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77156" y="1764792"/>
            <a:ext cx="73152" cy="2596896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14" name="Text 12"/>
          <p:cNvSpPr/>
          <p:nvPr/>
        </p:nvSpPr>
        <p:spPr>
          <a:xfrm>
            <a:off x="4919472" y="1828800"/>
            <a:ext cx="3529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34D3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CONTENEDOR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919472" y="2221992"/>
            <a:ext cx="3419856" cy="16459"/>
          </a:xfrm>
          <a:prstGeom prst="rect">
            <a:avLst/>
          </a:prstGeom>
          <a:solidFill>
            <a:srgbClr val="264862"/>
          </a:solidFill>
          <a:ln/>
        </p:spPr>
      </p:sp>
      <p:sp>
        <p:nvSpPr>
          <p:cNvPr id="16" name="Text 14"/>
          <p:cNvSpPr/>
          <p:nvPr/>
        </p:nvSpPr>
        <p:spPr>
          <a:xfrm>
            <a:off x="4919472" y="2331720"/>
            <a:ext cx="3456432" cy="19568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Instancia en ejecución (el platillo)</a:t>
            </a:r>
            <a:endParaRPr lang="en-US" sz="12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crea: docker run</a:t>
            </a:r>
            <a:endParaRPr lang="en-US" sz="12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Tiene su propio estado y vida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22D3EE"/>
          </a:solidFill>
          <a:ln/>
          <a:effectLst>
            <a:outerShdw sx="100000" sy="100000" kx="0" ky="0" algn="bl" rotWithShape="0" blurRad="50800" dist="25400" dir="5400000">
              <a:srgbClr val="000000">
                <a:alpha val="4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16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80160" y="48463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comparación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80160" y="749808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Contenedor vs Máquina Virtual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1298448" y="1316736"/>
            <a:ext cx="1005840" cy="3200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691640"/>
            <a:ext cx="3886200" cy="2743200"/>
          </a:xfrm>
          <a:prstGeom prst="roundRect">
            <a:avLst>
              <a:gd name="adj" fmla="val 1667"/>
            </a:avLst>
          </a:prstGeom>
          <a:solidFill>
            <a:srgbClr val="13283C"/>
          </a:solidFill>
          <a:ln w="15875">
            <a:solidFill>
              <a:srgbClr val="34D399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62356" y="1764792"/>
            <a:ext cx="73152" cy="2596896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9" name="Text 7"/>
          <p:cNvSpPr/>
          <p:nvPr/>
        </p:nvSpPr>
        <p:spPr>
          <a:xfrm>
            <a:off x="804672" y="1828800"/>
            <a:ext cx="3483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34D3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CONTENEDOR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04672" y="2221992"/>
            <a:ext cx="3374136" cy="16459"/>
          </a:xfrm>
          <a:prstGeom prst="rect">
            <a:avLst/>
          </a:prstGeom>
          <a:solidFill>
            <a:srgbClr val="264862"/>
          </a:solidFill>
          <a:ln/>
        </p:spPr>
      </p:sp>
      <p:sp>
        <p:nvSpPr>
          <p:cNvPr id="11" name="Text 9"/>
          <p:cNvSpPr/>
          <p:nvPr/>
        </p:nvSpPr>
        <p:spPr>
          <a:xfrm>
            <a:off x="804672" y="2331720"/>
            <a:ext cx="3410712" cy="19568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Comparte el kernel del host</a:t>
            </a:r>
            <a:endParaRPr lang="en-US" sz="12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Arranca en segundos</a:t>
            </a:r>
            <a:endParaRPr lang="en-US" sz="12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 de tamaño</a:t>
            </a:r>
            <a:endParaRPr lang="en-US" sz="12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para microservicios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663440" y="1691640"/>
            <a:ext cx="3931920" cy="2743200"/>
          </a:xfrm>
          <a:prstGeom prst="roundRect">
            <a:avLst>
              <a:gd name="adj" fmla="val 1667"/>
            </a:avLst>
          </a:prstGeom>
          <a:solidFill>
            <a:srgbClr val="13283C"/>
          </a:solidFill>
          <a:ln w="15875">
            <a:solidFill>
              <a:srgbClr val="9FB0C2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77156" y="1764792"/>
            <a:ext cx="73152" cy="2596896"/>
          </a:xfrm>
          <a:prstGeom prst="rect">
            <a:avLst/>
          </a:prstGeom>
          <a:solidFill>
            <a:srgbClr val="9FB0C2"/>
          </a:solidFill>
          <a:ln/>
        </p:spPr>
      </p:sp>
      <p:sp>
        <p:nvSpPr>
          <p:cNvPr id="14" name="Text 12"/>
          <p:cNvSpPr/>
          <p:nvPr/>
        </p:nvSpPr>
        <p:spPr>
          <a:xfrm>
            <a:off x="4919472" y="1828800"/>
            <a:ext cx="3529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9FB0C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MÁQUINA VIRTUAL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919472" y="2221992"/>
            <a:ext cx="3419856" cy="16459"/>
          </a:xfrm>
          <a:prstGeom prst="rect">
            <a:avLst/>
          </a:prstGeom>
          <a:solidFill>
            <a:srgbClr val="264862"/>
          </a:solidFill>
          <a:ln/>
        </p:spPr>
      </p:sp>
      <p:sp>
        <p:nvSpPr>
          <p:cNvPr id="16" name="Text 14"/>
          <p:cNvSpPr/>
          <p:nvPr/>
        </p:nvSpPr>
        <p:spPr>
          <a:xfrm>
            <a:off x="4919472" y="2331720"/>
            <a:ext cx="3456432" cy="19568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completo por máquina</a:t>
            </a:r>
            <a:endParaRPr lang="en-US" sz="12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Arranca en minutos</a:t>
            </a:r>
            <a:endParaRPr lang="en-US" sz="12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 de tamaño</a:t>
            </a:r>
            <a:endParaRPr lang="en-US" sz="12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Aislamiento más fuerte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22D3EE"/>
          </a:solidFill>
          <a:ln/>
          <a:effectLst>
            <a:outerShdw sx="100000" sy="100000" kx="0" ky="0" algn="bl" rotWithShape="0" blurRad="50800" dist="25400" dir="5400000">
              <a:srgbClr val="000000">
                <a:alpha val="4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16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80160" y="48463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día 1 · dockerfile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80160" y="749808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Anatomía de un Dockerfile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1298448" y="1316736"/>
            <a:ext cx="1005840" cy="3200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691640"/>
            <a:ext cx="8046720" cy="2834640"/>
          </a:xfrm>
          <a:prstGeom prst="roundRect">
            <a:avLst>
              <a:gd name="adj" fmla="val 1129"/>
            </a:avLst>
          </a:prstGeom>
          <a:solidFill>
            <a:srgbClr val="060F1A"/>
          </a:solidFill>
          <a:ln w="12700">
            <a:solidFill>
              <a:srgbClr val="264862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66928" y="1728216"/>
            <a:ext cx="8010144" cy="274320"/>
          </a:xfrm>
          <a:prstGeom prst="rect">
            <a:avLst/>
          </a:prstGeom>
          <a:solidFill>
            <a:srgbClr val="13283C"/>
          </a:solidFill>
          <a:ln/>
        </p:spPr>
      </p:sp>
      <p:sp>
        <p:nvSpPr>
          <p:cNvPr id="9" name="Shape 7"/>
          <p:cNvSpPr/>
          <p:nvPr/>
        </p:nvSpPr>
        <p:spPr>
          <a:xfrm>
            <a:off x="713232" y="1801368"/>
            <a:ext cx="118872" cy="118872"/>
          </a:xfrm>
          <a:prstGeom prst="ellipse">
            <a:avLst/>
          </a:prstGeom>
          <a:solidFill>
            <a:srgbClr val="FB7185"/>
          </a:solidFill>
          <a:ln/>
        </p:spPr>
      </p:sp>
      <p:sp>
        <p:nvSpPr>
          <p:cNvPr id="10" name="Shape 8"/>
          <p:cNvSpPr/>
          <p:nvPr/>
        </p:nvSpPr>
        <p:spPr>
          <a:xfrm>
            <a:off x="886968" y="1801368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1" name="Shape 9"/>
          <p:cNvSpPr/>
          <p:nvPr/>
        </p:nvSpPr>
        <p:spPr>
          <a:xfrm>
            <a:off x="1060704" y="1801368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2" name="Text 10"/>
          <p:cNvSpPr/>
          <p:nvPr/>
        </p:nvSpPr>
        <p:spPr>
          <a:xfrm>
            <a:off x="768096" y="2112264"/>
            <a:ext cx="7626096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node:22-alpine           # imagen base ligera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WORKDIR /app                  # carpeta de trabajo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 package*.json ./         # primero deps (cache de capas)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npm ci --omit=dev         # instala dependencias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 src ./src                # luego el código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EXPOSE 8080                   # documenta el puerto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 node                     # NO correr como root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CMD ["node", "src/server.js"]  # comando de arranque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22D3EE"/>
          </a:solidFill>
          <a:ln/>
          <a:effectLst>
            <a:outerShdw sx="100000" sy="100000" kx="0" ky="0" algn="bl" rotWithShape="0" blurRad="50800" dist="25400" dir="5400000">
              <a:srgbClr val="000000">
                <a:alpha val="4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16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80160" y="48463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buenas prácticas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80160" y="749808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Dockerfile: inseguro vs seguro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1298448" y="1316736"/>
            <a:ext cx="1005840" cy="3200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691640"/>
            <a:ext cx="3886200" cy="2743200"/>
          </a:xfrm>
          <a:prstGeom prst="roundRect">
            <a:avLst>
              <a:gd name="adj" fmla="val 1667"/>
            </a:avLst>
          </a:prstGeom>
          <a:solidFill>
            <a:srgbClr val="13283C"/>
          </a:solidFill>
          <a:ln w="15875">
            <a:solidFill>
              <a:srgbClr val="FB7185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62356" y="1764792"/>
            <a:ext cx="73152" cy="2596896"/>
          </a:xfrm>
          <a:prstGeom prst="rect">
            <a:avLst/>
          </a:prstGeom>
          <a:solidFill>
            <a:srgbClr val="FB7185"/>
          </a:solidFill>
          <a:ln/>
        </p:spPr>
      </p:sp>
      <p:sp>
        <p:nvSpPr>
          <p:cNvPr id="9" name="Text 7"/>
          <p:cNvSpPr/>
          <p:nvPr/>
        </p:nvSpPr>
        <p:spPr>
          <a:xfrm>
            <a:off x="804672" y="1828800"/>
            <a:ext cx="3483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B718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INSEGURO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04672" y="2221992"/>
            <a:ext cx="3374136" cy="16459"/>
          </a:xfrm>
          <a:prstGeom prst="rect">
            <a:avLst/>
          </a:prstGeom>
          <a:solidFill>
            <a:srgbClr val="264862"/>
          </a:solidFill>
          <a:ln/>
        </p:spPr>
      </p:sp>
      <p:sp>
        <p:nvSpPr>
          <p:cNvPr id="11" name="Text 9"/>
          <p:cNvSpPr/>
          <p:nvPr/>
        </p:nvSpPr>
        <p:spPr>
          <a:xfrm>
            <a:off x="804672" y="2331720"/>
            <a:ext cx="3410712" cy="19568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node:22 (≈1 GB)</a:t>
            </a:r>
            <a:endParaRPr lang="en-US" sz="12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. . (todo, hasta secretos)</a:t>
            </a:r>
            <a:endParaRPr lang="en-US" sz="12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install (con devDeps)</a:t>
            </a:r>
            <a:endParaRPr lang="en-US" sz="12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 DB_PASSWORD=... </a:t>
            </a:r>
            <a:endParaRPr lang="en-US" sz="12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 como root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663440" y="1691640"/>
            <a:ext cx="3931920" cy="2743200"/>
          </a:xfrm>
          <a:prstGeom prst="roundRect">
            <a:avLst>
              <a:gd name="adj" fmla="val 1667"/>
            </a:avLst>
          </a:prstGeom>
          <a:solidFill>
            <a:srgbClr val="13283C"/>
          </a:solidFill>
          <a:ln w="15875">
            <a:solidFill>
              <a:srgbClr val="34D399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77156" y="1764792"/>
            <a:ext cx="73152" cy="2596896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14" name="Text 12"/>
          <p:cNvSpPr/>
          <p:nvPr/>
        </p:nvSpPr>
        <p:spPr>
          <a:xfrm>
            <a:off x="4919472" y="1828800"/>
            <a:ext cx="3529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34D3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SEGURO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919472" y="2221992"/>
            <a:ext cx="3419856" cy="16459"/>
          </a:xfrm>
          <a:prstGeom prst="rect">
            <a:avLst/>
          </a:prstGeom>
          <a:solidFill>
            <a:srgbClr val="264862"/>
          </a:solidFill>
          <a:ln/>
        </p:spPr>
      </p:sp>
      <p:sp>
        <p:nvSpPr>
          <p:cNvPr id="16" name="Text 14"/>
          <p:cNvSpPr/>
          <p:nvPr/>
        </p:nvSpPr>
        <p:spPr>
          <a:xfrm>
            <a:off x="4919472" y="2331720"/>
            <a:ext cx="3456432" cy="19568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node:22-alpine</a:t>
            </a:r>
            <a:endParaRPr lang="en-US" sz="12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.dockerignore + copia selectiva</a:t>
            </a:r>
            <a:endParaRPr lang="en-US" sz="12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ci --omit=dev</a:t>
            </a:r>
            <a:endParaRPr lang="en-US" sz="12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secreto por variable/Secret</a:t>
            </a:r>
            <a:endParaRPr lang="en-US" sz="12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node + HEALTHCHECK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22D3EE"/>
          </a:solidFill>
          <a:ln/>
          <a:effectLst>
            <a:outerShdw sx="100000" sy="100000" kx="0" ky="0" algn="bl" rotWithShape="0" blurRad="50800" dist="25400" dir="5400000">
              <a:srgbClr val="000000">
                <a:alpha val="4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16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80160" y="48463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misión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80160" y="749808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Lab 1 — Capitán de Contenedores (+100 XP)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1298448" y="1316736"/>
            <a:ext cx="1005840" cy="3200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645920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Construye la imagen de la app y córrela; /health responde.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2286000"/>
            <a:ext cx="8046720" cy="1828800"/>
          </a:xfrm>
          <a:prstGeom prst="roundRect">
            <a:avLst>
              <a:gd name="adj" fmla="val 1750"/>
            </a:avLst>
          </a:prstGeom>
          <a:solidFill>
            <a:srgbClr val="060F1A"/>
          </a:solidFill>
          <a:ln w="12700">
            <a:solidFill>
              <a:srgbClr val="264862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66928" y="2322576"/>
            <a:ext cx="8010144" cy="274320"/>
          </a:xfrm>
          <a:prstGeom prst="rect">
            <a:avLst/>
          </a:prstGeom>
          <a:solidFill>
            <a:srgbClr val="13283C"/>
          </a:solidFill>
          <a:ln/>
        </p:spPr>
      </p:sp>
      <p:sp>
        <p:nvSpPr>
          <p:cNvPr id="10" name="Shape 8"/>
          <p:cNvSpPr/>
          <p:nvPr/>
        </p:nvSpPr>
        <p:spPr>
          <a:xfrm>
            <a:off x="713232" y="2395728"/>
            <a:ext cx="118872" cy="118872"/>
          </a:xfrm>
          <a:prstGeom prst="ellipse">
            <a:avLst/>
          </a:prstGeom>
          <a:solidFill>
            <a:srgbClr val="FB7185"/>
          </a:solidFill>
          <a:ln/>
        </p:spPr>
      </p:sp>
      <p:sp>
        <p:nvSpPr>
          <p:cNvPr id="11" name="Shape 9"/>
          <p:cNvSpPr/>
          <p:nvPr/>
        </p:nvSpPr>
        <p:spPr>
          <a:xfrm>
            <a:off x="886968" y="2395728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2" name="Shape 10"/>
          <p:cNvSpPr/>
          <p:nvPr/>
        </p:nvSpPr>
        <p:spPr>
          <a:xfrm>
            <a:off x="1060704" y="2395728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3" name="Text 11"/>
          <p:cNvSpPr/>
          <p:nvPr/>
        </p:nvSpPr>
        <p:spPr>
          <a:xfrm>
            <a:off x="768096" y="2706624"/>
            <a:ext cx="7626096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docker build -t academia-devops-app:1.0.0 .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docker run -d -p 8080:8080 --name academia academia-devops-app:1.0.0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docker ps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curl http://localhost:8080/health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{"status":"UP", ...}   &lt;- evidencia de la misión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22D3EE"/>
          </a:solidFill>
          <a:ln/>
          <a:effectLst>
            <a:outerShdw sx="100000" sy="100000" kx="0" ky="0" algn="bl" rotWithShape="0" blurRad="50800" dist="25400" dir="5400000">
              <a:srgbClr val="000000">
                <a:alpha val="4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16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80160" y="48463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para clase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80160" y="749808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Preguntas detonadoras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1298448" y="1316736"/>
            <a:ext cx="1005840" cy="3200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645920"/>
            <a:ext cx="813816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700" b="1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problema resuelve un contenedor?</a:t>
            </a:r>
            <a:endParaRPr lang="en-US" sz="17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700" b="1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SÍ debería ir dentro de una imagen?</a:t>
            </a:r>
            <a:endParaRPr lang="en-US" sz="17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700" b="1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NUNCA debería ir dentro de una imagen?</a:t>
            </a:r>
            <a:endParaRPr lang="en-US" sz="17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700" b="1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garantizas que todos tus alumnos tengan el mismo ambiente?</a:t>
            </a:r>
            <a:endParaRPr lang="en-US" sz="1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7373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fin del día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2103120"/>
            <a:ext cx="8138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Hoy: de código a contenedor.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3383280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F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Mañana: lo levantamos con su base de datos y lo automatizamos con CI/CD.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Día 1 — DevOps y Docker</dc:title>
  <dc:subject>PptxGenJS Presentation</dc:subject>
  <dc:creator>Daniel Eduardo Gonzalez Ramirez</dc:creator>
  <cp:lastModifiedBy>Daniel Eduardo Gonzalez Ramirez</cp:lastModifiedBy>
  <cp:revision>1</cp:revision>
  <dcterms:created xsi:type="dcterms:W3CDTF">2026-06-16T00:51:56Z</dcterms:created>
  <dcterms:modified xsi:type="dcterms:W3CDTF">2026-06-16T00:51:56Z</dcterms:modified>
</cp:coreProperties>
</file>